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85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275" r:id="rId23"/>
    <p:sldId id="310" r:id="rId24"/>
    <p:sldId id="283" r:id="rId25"/>
    <p:sldId id="286" r:id="rId26"/>
    <p:sldId id="287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>
      <p:cViewPr varScale="1">
        <p:scale>
          <a:sx n="82" d="100"/>
          <a:sy n="82" d="100"/>
        </p:scale>
        <p:origin x="69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08E86-97F3-449F-B80A-07FA94EBBFA7}" type="datetimeFigureOut">
              <a:rPr lang="en-CA" smtClean="0"/>
              <a:t>2025-11-28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D7DA0-A8FB-470D-A645-0DDEFE2A344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121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3DCC3-1F36-5EBB-96C3-AE443C0C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273B1-F2A3-C11F-5E43-D3ED232A4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9083A-0A19-4238-DD20-B812C7915D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F7F0C-A686-5D90-46D1-318A741F4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083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62116-446E-AF0D-62BA-DC1A0791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040BA-ADA9-1BF3-3174-373608087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43C9D8-B2CA-55A0-3084-637746B99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B3064-2D03-CB1E-316E-FBB229C4A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4233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616FE-E037-6C0E-DE52-04BE68E65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6A4EA-764D-C38A-3AF2-E8A83A43A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C8304-3952-8E1C-90E0-ECCCAD5B5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6DB2B-FCC2-A1DF-FD0F-1BF861BFA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4508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B987-E34E-A28E-BAE1-42E8B90F9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51C6-3103-28C4-42EA-EC352FF7D4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A7778-4715-2D3A-7378-0194DB51A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9EE85-00FF-7FFA-BC8D-CE93B9210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6452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4723E-C554-316F-EF92-DCA9E3A9E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5BFDF-6A79-CF4D-20AF-64CA4181A0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91A56E-DE26-A0F2-5DE4-6C4D7FA45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6A423-1201-A78F-9C7A-5E2A37DAA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3216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F8150-645C-9228-978A-ED1A4D290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CC6B58-50FA-9569-9BF0-A511F2456F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270F3-20EF-0AA5-E275-9A4740369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A2F90-2A8E-6ECA-6EE7-CB35F970C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20429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3824E-5662-A2DE-D83D-25D90769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747E2-42CC-C7A2-11B8-EC0068036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C9554-BEA2-65BB-13C9-F84E0118B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A64A8-B42D-D4AA-CE24-75004AF51D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93336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945CB-31A2-1FED-EC3B-256C119B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F82BD6-031F-F210-677B-550241289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EE59A-A149-9519-DC1E-18F5B9D78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126B4-E334-5CD5-4C3B-1C81558C50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68372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FF779-11F1-CA1F-AC8B-296EDCE8A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2CFCA1-2315-7F3F-2D02-324518754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B2719-BFFC-8013-78CF-2DD4C48A7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ED92E-74F9-5DDD-F5F8-091764DD1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1433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3CE8-7FE1-3942-C3A2-972472D44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73EFA-BA0D-98E1-99A7-42ED26D5C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F298F-ACA8-90A5-53CD-6D213A9D4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5512A-A4AE-08AB-192F-F10651984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30883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232D0-DA61-E2A4-6220-AD8C8A9C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8B2EB-6D72-54C7-0BD9-58DC54962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16302-798F-DFF9-B72F-67374ADAD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7F562-B9C3-1DFC-0677-E0D1D89D4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8647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7B72-7595-6C0A-EF78-222C68755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FBF966-F7C7-E682-2392-00DB3FEF5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5C5B4D-D72B-77C1-A2C3-BA89E8958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364C1-FEC8-C88C-BC67-F86235B441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1176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96137-C5B1-038B-4515-F275288BE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0BECB-C42B-7BE6-1FC3-DC67AC6BB0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7C06D-D7FB-4E6E-299C-4721BE005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E30B8-C435-8973-91DB-8ED14C391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9764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4ED2-AA2E-C905-25C2-249DA20E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BC58A-91F9-57B4-CCFB-CF5FC2BE0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117D9-6230-6368-3E4E-8608DA765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4624B-328D-D990-2005-B231B97C4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70576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33CF2-0338-64CC-DF68-3B1216AD7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259C73-D6E0-95F4-E16A-BF888916F9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28DEF-7DBA-5933-7625-227D38E99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A1E46-0925-7C0A-72BE-8A08C5D21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57215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06CB9-4CA9-718C-A00D-AD06B2138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03AA46-9A4B-2557-A448-85A9AC64C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E7FEA-6858-1150-5AD1-DB2FA2DA5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90890-CD10-CA20-892B-4D8F75C62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70505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7B60-73E4-F76D-223C-9E63D932C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8D846-E350-5379-EEF2-F25C4754E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D6EA8-13DE-5E97-F5E9-3B6971348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9BE4A-B0C3-5A5E-2F62-CF17BA34D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18051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EC8F-C826-89EA-0E5E-66516CFD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924F2-7C12-D389-0859-06A94C88E1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0AEC6-B529-939C-E538-7012DF077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4558D-0485-09AB-3321-D39EFEF92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934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462EA-7631-038C-BD7D-154ECC427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2D49C7-60C6-6D4F-750F-5250EDA26E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771F22-BB45-DD9F-6EC6-D7AD5D3DC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B8CB6-A967-CE33-B959-0C4265C05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98505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91EDD-E39D-BA6F-D9B3-676D159F7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F7B64D-748F-6D4B-C283-8F287B7C1A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DE96C4-9B70-C6E1-246C-5D3C26B8AF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50DCE-637A-78DF-694F-25326014B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201220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925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4B26-706D-A5F3-AC7D-66EDB81A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E75AA-E9E1-3CBA-4029-E5B24FA0B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5F058-905A-2AC4-52D2-F3C50A531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08877-CAA6-460B-C4B9-D0FCCEFEE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6592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751122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97D78-8F27-1729-DDF4-104F1F81D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D29F7F-01B4-966B-C29E-A68A7D5B1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CA885-0DA4-FF39-6CC6-AD8F7546B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786DE-9D2F-E43F-1596-A486AE060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DD7DA0-A8FB-470D-A645-0DDEFE2A344C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633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6939" y="611124"/>
            <a:ext cx="168021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030A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Cloud</a:t>
            </a:r>
            <a:r>
              <a:rPr spc="-30" dirty="0"/>
              <a:t> </a:t>
            </a:r>
            <a:r>
              <a:rPr dirty="0"/>
              <a:t>Computing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Blockchain</a:t>
            </a:r>
            <a:r>
              <a:rPr spc="-3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Mayra</a:t>
            </a:r>
            <a:r>
              <a:rPr spc="-25" dirty="0"/>
              <a:t> </a:t>
            </a:r>
            <a:r>
              <a:rPr dirty="0"/>
              <a:t>Samaniego</a:t>
            </a:r>
            <a:r>
              <a:rPr spc="-15" dirty="0"/>
              <a:t> </a:t>
            </a:r>
            <a:r>
              <a:rPr dirty="0"/>
              <a:t>MSc.</a:t>
            </a:r>
            <a:r>
              <a:rPr spc="-20" dirty="0"/>
              <a:t> </a:t>
            </a:r>
            <a:r>
              <a:rPr dirty="0"/>
              <a:t>Ph.D.</a:t>
            </a:r>
            <a:r>
              <a:rPr spc="-20" dirty="0"/>
              <a:t> </a:t>
            </a:r>
            <a:r>
              <a:rPr spc="-25" dirty="0"/>
              <a:t>(c)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030A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Cloud</a:t>
            </a:r>
            <a:r>
              <a:rPr spc="-30" dirty="0"/>
              <a:t> </a:t>
            </a:r>
            <a:r>
              <a:rPr dirty="0"/>
              <a:t>Computing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Blockchain</a:t>
            </a:r>
            <a:r>
              <a:rPr spc="-3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Mayra</a:t>
            </a:r>
            <a:r>
              <a:rPr spc="-25" dirty="0"/>
              <a:t> </a:t>
            </a:r>
            <a:r>
              <a:rPr dirty="0"/>
              <a:t>Samaniego</a:t>
            </a:r>
            <a:r>
              <a:rPr spc="-15" dirty="0"/>
              <a:t> </a:t>
            </a:r>
            <a:r>
              <a:rPr dirty="0"/>
              <a:t>MSc.</a:t>
            </a:r>
            <a:r>
              <a:rPr spc="-20" dirty="0"/>
              <a:t> </a:t>
            </a:r>
            <a:r>
              <a:rPr dirty="0"/>
              <a:t>Ph.D.</a:t>
            </a:r>
            <a:r>
              <a:rPr spc="-20" dirty="0"/>
              <a:t> </a:t>
            </a:r>
            <a:r>
              <a:rPr spc="-25" dirty="0"/>
              <a:t>(c)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030A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Cloud</a:t>
            </a:r>
            <a:r>
              <a:rPr spc="-30" dirty="0"/>
              <a:t> </a:t>
            </a:r>
            <a:r>
              <a:rPr dirty="0"/>
              <a:t>Computing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Blockchain</a:t>
            </a:r>
            <a:r>
              <a:rPr spc="-3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Mayra</a:t>
            </a:r>
            <a:r>
              <a:rPr spc="-25" dirty="0"/>
              <a:t> </a:t>
            </a:r>
            <a:r>
              <a:rPr dirty="0"/>
              <a:t>Samaniego</a:t>
            </a:r>
            <a:r>
              <a:rPr spc="-15" dirty="0"/>
              <a:t> </a:t>
            </a:r>
            <a:r>
              <a:rPr dirty="0"/>
              <a:t>MSc.</a:t>
            </a:r>
            <a:r>
              <a:rPr spc="-20" dirty="0"/>
              <a:t> </a:t>
            </a:r>
            <a:r>
              <a:rPr dirty="0"/>
              <a:t>Ph.D.</a:t>
            </a:r>
            <a:r>
              <a:rPr spc="-20" dirty="0"/>
              <a:t> </a:t>
            </a:r>
            <a:r>
              <a:rPr spc="-25" dirty="0"/>
              <a:t>(c)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030A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Cloud</a:t>
            </a:r>
            <a:r>
              <a:rPr spc="-30" dirty="0"/>
              <a:t> </a:t>
            </a:r>
            <a:r>
              <a:rPr dirty="0"/>
              <a:t>Computing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Blockchain</a:t>
            </a:r>
            <a:r>
              <a:rPr spc="-3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Mayra</a:t>
            </a:r>
            <a:r>
              <a:rPr spc="-25" dirty="0"/>
              <a:t> </a:t>
            </a:r>
            <a:r>
              <a:rPr dirty="0"/>
              <a:t>Samaniego</a:t>
            </a:r>
            <a:r>
              <a:rPr spc="-15" dirty="0"/>
              <a:t> </a:t>
            </a:r>
            <a:r>
              <a:rPr dirty="0"/>
              <a:t>MSc.</a:t>
            </a:r>
            <a:r>
              <a:rPr spc="-20" dirty="0"/>
              <a:t> </a:t>
            </a:r>
            <a:r>
              <a:rPr dirty="0"/>
              <a:t>Ph.D.</a:t>
            </a:r>
            <a:r>
              <a:rPr spc="-20" dirty="0"/>
              <a:t> </a:t>
            </a:r>
            <a:r>
              <a:rPr spc="-25" dirty="0"/>
              <a:t>(c)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Cloud</a:t>
            </a:r>
            <a:r>
              <a:rPr spc="-30" dirty="0"/>
              <a:t> </a:t>
            </a:r>
            <a:r>
              <a:rPr dirty="0"/>
              <a:t>Computing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Blockchain</a:t>
            </a:r>
            <a:r>
              <a:rPr spc="-3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Mayra</a:t>
            </a:r>
            <a:r>
              <a:rPr spc="-25" dirty="0"/>
              <a:t> </a:t>
            </a:r>
            <a:r>
              <a:rPr dirty="0"/>
              <a:t>Samaniego</a:t>
            </a:r>
            <a:r>
              <a:rPr spc="-15" dirty="0"/>
              <a:t> </a:t>
            </a:r>
            <a:r>
              <a:rPr dirty="0"/>
              <a:t>MSc.</a:t>
            </a:r>
            <a:r>
              <a:rPr spc="-20" dirty="0"/>
              <a:t> </a:t>
            </a:r>
            <a:r>
              <a:rPr dirty="0"/>
              <a:t>Ph.D.</a:t>
            </a:r>
            <a:r>
              <a:rPr spc="-20" dirty="0"/>
              <a:t> </a:t>
            </a:r>
            <a:r>
              <a:rPr spc="-25" dirty="0"/>
              <a:t>(c)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9371"/>
            <a:ext cx="9975850" cy="1293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030A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20162" y="1988820"/>
            <a:ext cx="5998209" cy="3396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91672" y="6428920"/>
            <a:ext cx="4171950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/>
              <a:t>Cloud</a:t>
            </a:r>
            <a:r>
              <a:rPr spc="-30" dirty="0"/>
              <a:t> </a:t>
            </a:r>
            <a:r>
              <a:rPr dirty="0"/>
              <a:t>Computing</a:t>
            </a:r>
            <a:r>
              <a:rPr spc="-2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Blockchain</a:t>
            </a:r>
            <a:r>
              <a:rPr spc="-30" dirty="0"/>
              <a:t> </a:t>
            </a:r>
            <a:r>
              <a:rPr dirty="0"/>
              <a:t>-</a:t>
            </a:r>
            <a:r>
              <a:rPr spc="-25" dirty="0"/>
              <a:t> </a:t>
            </a:r>
            <a:r>
              <a:rPr spc="-10" dirty="0"/>
              <a:t>Mayra</a:t>
            </a:r>
            <a:r>
              <a:rPr spc="-25" dirty="0"/>
              <a:t> </a:t>
            </a:r>
            <a:r>
              <a:rPr dirty="0"/>
              <a:t>Samaniego</a:t>
            </a:r>
            <a:r>
              <a:rPr spc="-15" dirty="0"/>
              <a:t> </a:t>
            </a:r>
            <a:r>
              <a:rPr dirty="0"/>
              <a:t>MSc.</a:t>
            </a:r>
            <a:r>
              <a:rPr spc="-20" dirty="0"/>
              <a:t> </a:t>
            </a:r>
            <a:r>
              <a:rPr dirty="0"/>
              <a:t>Ph.D.</a:t>
            </a:r>
            <a:r>
              <a:rPr spc="-20" dirty="0"/>
              <a:t> </a:t>
            </a:r>
            <a:r>
              <a:rPr spc="-25" dirty="0"/>
              <a:t>(c)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28/11/2025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7415" y="6428920"/>
            <a:ext cx="244475" cy="21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s://www.kaggle.com/datasets/sovitrath/diabetic-retinopathy-224x224-2019-data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room.uw.edu/news-releases/ai-technology-doesnt-reliably-detect-diabetic-eye-disease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hyperlink" Target="https://peerj.com/articles/cs-1947/" TargetMode="External"/><Relationship Id="rId4" Type="http://schemas.openxmlformats.org/officeDocument/2006/relationships/hyperlink" Target="https://dx.doi.org/10.21227/H25W98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ovitrath/diabetic-retinopathy-224x224-2019-data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1931042"/>
            <a:ext cx="10586769" cy="347915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540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AI-powered classification of the diabetic retinopathy severity</a:t>
            </a:r>
            <a:br>
              <a:rPr lang="en-CA" sz="585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5850" dirty="0">
                <a:solidFill>
                  <a:srgbClr val="C55A1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sz="58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1354" y="3693551"/>
            <a:ext cx="11600815" cy="0"/>
          </a:xfrm>
          <a:custGeom>
            <a:avLst/>
            <a:gdLst/>
            <a:ahLst/>
            <a:cxnLst/>
            <a:rect l="l" t="t" r="r" b="b"/>
            <a:pathLst>
              <a:path w="11600815">
                <a:moveTo>
                  <a:pt x="0" y="0"/>
                </a:moveTo>
                <a:lnTo>
                  <a:pt x="11600600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4">
            <a:extLst>
              <a:ext uri="{FF2B5EF4-FFF2-40B4-BE49-F238E27FC236}">
                <a16:creationId xmlns:a16="http://schemas.microsoft.com/office/drawing/2014/main" id="{CE7E1570-F557-AFE6-7016-EFF3A069CC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2201" y="5410200"/>
            <a:ext cx="1983504" cy="1128711"/>
          </a:xfrm>
          <a:prstGeom prst="rect">
            <a:avLst/>
          </a:prstGeom>
        </p:spPr>
      </p:pic>
      <p:sp>
        <p:nvSpPr>
          <p:cNvPr id="5" name="object 2">
            <a:extLst>
              <a:ext uri="{FF2B5EF4-FFF2-40B4-BE49-F238E27FC236}">
                <a16:creationId xmlns:a16="http://schemas.microsoft.com/office/drawing/2014/main" id="{A463CF92-0653-5AC7-912D-4BFD08D68082}"/>
              </a:ext>
            </a:extLst>
          </p:cNvPr>
          <p:cNvSpPr txBox="1">
            <a:spLocks/>
          </p:cNvSpPr>
          <p:nvPr/>
        </p:nvSpPr>
        <p:spPr>
          <a:xfrm>
            <a:off x="281354" y="5672113"/>
            <a:ext cx="8862646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 sz="4400" b="0" i="0">
                <a:solidFill>
                  <a:srgbClr val="7030A0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pPr marL="12700" algn="l">
              <a:spcBef>
                <a:spcPts val="130"/>
              </a:spcBef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Thanh Thao Nguyen</a:t>
            </a:r>
            <a:endParaRPr lang="en-CA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D3A00-ADEF-A0A2-7AF1-96D318B8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0E24979-8038-A34E-2383-7341EC1F21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Introduction (1/2)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FFDD65-8D31-F050-B056-08A19AECF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305" y="5347856"/>
            <a:ext cx="4876800" cy="61555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Comparison between Normal Eye and Eye with Retinopathy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3DAD019-EDA9-8162-24FD-34E5D727188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DA324CD-CECB-35FB-698D-E35CE02FF665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403A119-F07E-A0E4-2ED1-617542AA23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5B3023-4E58-E32D-DD93-48A2EA28DD0A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12D6182-053A-981C-1514-2BFAA23E2A31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D46740-FCA4-159C-5602-D4DDFFE04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35" y="1822621"/>
            <a:ext cx="5006340" cy="34182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0B42BC-9993-DFD9-215E-0EE98B95C2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864" y="3838339"/>
            <a:ext cx="5564505" cy="1516380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256D8C6-5B45-37ED-0981-E5D097ABC85E}"/>
              </a:ext>
            </a:extLst>
          </p:cNvPr>
          <p:cNvSpPr txBox="1">
            <a:spLocks/>
          </p:cNvSpPr>
          <p:nvPr/>
        </p:nvSpPr>
        <p:spPr>
          <a:xfrm>
            <a:off x="6357828" y="5343074"/>
            <a:ext cx="4876800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000" b="0" i="0">
                <a:solidFill>
                  <a:schemeClr val="tx1"/>
                </a:solidFill>
                <a:latin typeface="Calibri Light"/>
                <a:ea typeface="+mn-ea"/>
                <a:cs typeface="Calibri Ligh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severity of Diabetic Retinopathy ranges from Normal to Proliferative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743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773F4-74CE-224E-68BC-0CD12EDF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12277CB-8E2B-4571-E0CB-7F1F797C2B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Introduction (2/2)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FC6E0C8-0D07-262E-244E-A1B1F59A471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AC1E827-875B-AC0F-B6DF-D4066A77423C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0371071-BC39-EF4B-9B98-DF60555F72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74323EA-ED83-FB4F-1831-672B38ABBC85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67FE7D6-AC6F-5CF6-A845-C698281AEB6E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6465016-13B7-19C8-DEB9-D95C0955E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2810" y="1835417"/>
            <a:ext cx="10019303" cy="40164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>
              <a:lnSpc>
                <a:spcPct val="150000"/>
              </a:lnSpc>
            </a:pP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develop a deep learning-based solution for </a:t>
            </a: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that can automatically identify and extract </a:t>
            </a: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diabetic retinopathy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from high-resolution </a:t>
            </a: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retinal imagery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lnSpc>
                <a:spcPct val="150000"/>
              </a:lnSpc>
              <a:buNone/>
            </a:pPr>
            <a:endParaRPr lang="en-CA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It Matters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 diabetic retinopathy classification is crucial for 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 treatment planning, patients’ physical and mental health care, and cost-saving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traditional method is time-consuming.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Automating this process increases efficiency, scalability, and medical intelligence.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084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0B8BF-3189-9885-5975-5239014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0F41C3-0291-C6AC-C682-18E679B725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Key terms to remember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F6C92FFE-C922-D933-C75A-C60E7CA7F8F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FA8F627-661A-8FB0-C545-74BF8C189922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E060A79-6C5D-62C0-2CB4-41ADB9CAFAE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43CC11E-F50C-E0C8-F1B9-0BD1B0BB8B8B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D27B6C86-8FF4-4F8C-97B6-194D9544ACF2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8A4011A-5672-9141-96C9-F14449E5E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2810" y="1835420"/>
            <a:ext cx="10423390" cy="4570482"/>
          </a:xfrm>
        </p:spPr>
        <p:txBody>
          <a:bodyPr/>
          <a:lstStyle/>
          <a:p>
            <a:pPr>
              <a:buNone/>
            </a:pP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accuracy of the training and validation set</a:t>
            </a:r>
            <a:b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the accuracy of the training and validation once the training model. The higher the accuracy gets, the better the model achieves.</a:t>
            </a:r>
          </a:p>
          <a:p>
            <a:pPr>
              <a:buNone/>
            </a:pPr>
            <a:endParaRPr lang="en-CA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Accuracy</a:t>
            </a:r>
            <a:b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how accurate the model is on the test set. We pick the model that has the best performance.</a:t>
            </a:r>
          </a:p>
          <a:p>
            <a:pPr>
              <a:buNone/>
            </a:pPr>
            <a:endParaRPr lang="en-CA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Confidence Score</a:t>
            </a:r>
            <a:b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 the accuracy of the model when it predicts the real images (does it classify the class correctly?).</a:t>
            </a:r>
          </a:p>
          <a:p>
            <a:pPr>
              <a:buNone/>
            </a:pPr>
            <a:endParaRPr lang="en-CA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EfficientNetV2B3</a:t>
            </a:r>
            <a:b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model is more accurate than EfficientNetB0, ResNet50, DenseNet121, and Vision Transformer </a:t>
            </a:r>
            <a:r>
              <a:rPr lang="en-CA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-Ti/16.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A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37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629D-6C11-D7D9-020E-388841E6C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BD4C56-800F-0711-C9C3-50AEAE3354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Methodology Overview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6D3E74F7-3A32-24CD-96E2-B5D3531F33F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4C3D4A0-BE90-974D-7D1E-C867280331CA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76460DE-E32E-337C-D265-888635F750C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0EE610C-7BEE-8AC2-7B98-59A6B8BB2811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C3B189DC-5660-8E8A-0181-48C18965A4AA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873C952-934A-DA16-48BD-4DB14F283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2810" y="1835420"/>
            <a:ext cx="10423390" cy="2026196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the </a:t>
            </a: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EfficientNetV2B3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architecture with its pre-trained model on ImageNet.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Leverage </a:t>
            </a: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GlobalAveragePooling2D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for extracting the features of images.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Resize images to </a:t>
            </a: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224x224 pixels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(match with EfficientNetV2B3).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Keep the image in the original range (</a:t>
            </a: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0-255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evaluation using </a:t>
            </a: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Accuracy and Confidence Score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1761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1F37-981A-5D91-1172-A5EF9B723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28B2FA5-CF83-2461-FB7A-40BC65913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98144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Project Diagram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A3F3CB4-3BD9-2BDD-6C5A-47D2B62315D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3FD5D14-42A0-8413-9C35-CC9B87B78AAB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FB618DE-09BD-9EC4-A332-399ED77F09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F9269E5-ED8D-F365-A0F0-60B2747203A9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0DA0D22-3C12-68F3-6FA5-471770E1A2FA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FDE3FE-3623-7C5C-25D8-B22E2CE75F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30" y="1800062"/>
            <a:ext cx="10363200" cy="376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22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02D3A-18A6-816D-C7B4-4B6B8F89F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C10AE4-D07B-8414-0EF6-E81F42D27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298144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Project Workflow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39A1E96-6F5F-0FF8-A695-644121BFA4D7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152EED-35EB-94D9-7726-572DDCEC631F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73EC928-F44A-279D-69B7-613BE70C1E6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704CE58-CE12-7584-FD36-2F4FEB01655B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13F796B-5A67-FBD1-88EC-59155FC995D6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2E9BF4-E70A-F0FC-C4D2-813B8DC5D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63" y="1740332"/>
            <a:ext cx="6705598" cy="4377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163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FB74A-E42E-1675-CB26-008B8C13C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6FF2C54-EAD0-FBFB-51DB-B80388AB31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F619248-BC4D-8B15-FE2C-CA62A795FA6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643312B-B98A-CA28-C25C-4D15497E5310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1B98C24-DD8A-2EB1-1E6F-BF66084BE1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025352C-F165-457F-547C-68B1465FAFC2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17CF895-C4A2-4E33-BC80-33A346F8EB95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6C0649-22A5-A582-8F72-C4039BC29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2810" y="1835420"/>
            <a:ext cx="10423390" cy="4355038"/>
          </a:xfrm>
        </p:spPr>
        <p:txBody>
          <a:bodyPr/>
          <a:lstStyle/>
          <a:p>
            <a:pPr algn="l" fontAlgn="base">
              <a:spcBef>
                <a:spcPts val="1800"/>
              </a:spcBef>
              <a:spcAft>
                <a:spcPts val="600"/>
              </a:spcAft>
              <a:buNone/>
            </a:pPr>
            <a:r>
              <a:rPr lang="en-CA" sz="1800" b="1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</a:t>
            </a:r>
          </a:p>
          <a:p>
            <a:pPr algn="l" fontAlgn="base">
              <a:spcAft>
                <a:spcPts val="1200"/>
              </a:spcAft>
            </a:pPr>
            <a:r>
              <a:rPr lang="en-US" sz="180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images consist of retina scan images to detect diabetic retinopathy. The original dataset is available at </a:t>
            </a:r>
            <a:r>
              <a:rPr lang="en-US" sz="1800" u="sng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APTOS 2019 Blindness Detection.</a:t>
            </a:r>
            <a:endParaRPr lang="en-CA" sz="1800" u="sng" dirty="0">
              <a:solidFill>
                <a:srgbClr val="3C40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spcBef>
                <a:spcPts val="1800"/>
              </a:spcBef>
              <a:spcAft>
                <a:spcPts val="600"/>
              </a:spcAft>
              <a:buNone/>
            </a:pPr>
            <a:r>
              <a:rPr lang="en-CA" sz="1800" b="1" dirty="0">
                <a:solidFill>
                  <a:srgbClr val="20212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</a:p>
          <a:p>
            <a:pPr marL="285750" indent="-28575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whole dataset contains 3663 retinal images.</a:t>
            </a:r>
          </a:p>
          <a:p>
            <a:pPr marL="285750" indent="-28575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 images are resized into 224x224 pixels</a:t>
            </a:r>
            <a:r>
              <a:rPr lang="en-CA" sz="180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images are high resolution.</a:t>
            </a:r>
          </a:p>
          <a:p>
            <a:pPr marL="285750" indent="-285750" algn="l" fontAlgn="base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CA" sz="1800" dirty="0">
              <a:solidFill>
                <a:srgbClr val="3C404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CA" sz="1800" b="1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download data : </a:t>
            </a:r>
            <a:r>
              <a:rPr lang="en-CA" sz="1800" dirty="0">
                <a:solidFill>
                  <a:srgbClr val="3C404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US" sz="1800" dirty="0">
                <a:hlinkClick r:id="rId4"/>
              </a:rPr>
              <a:t>Diabetic Retinopathy 224x224 (2019 Data)</a:t>
            </a:r>
            <a:r>
              <a:rPr lang="en-CA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Aptos"/>
                <a:cs typeface="Arial" panose="020B0604020202020204" pitchFamily="34" charset="0"/>
                <a:sym typeface="Aptos"/>
              </a:rPr>
              <a:t> “</a:t>
            </a:r>
            <a:endParaRPr lang="en-CA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53AA33-19C9-5643-7E08-1C34DDA19E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189" y="3288788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6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823B7-70A2-FDE0-A4D8-A596040C7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6883DA9-295E-34B2-DD74-13D2CB131D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Data Loading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2B94A34-81AC-5FDD-BC5D-8D94F2715EAC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9B8D7317-C874-5F09-4F16-B7E2B263395F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CB6CF2F-7C62-843E-74C1-6BDF05671EB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4A4BC62-E053-D9EF-F8B6-070A542C6AEE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05971E44-0530-6743-EF38-81C038EA129E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4DBCE4C-6C5C-7220-F61D-E3C4C3D9E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590" y="1738953"/>
            <a:ext cx="10423390" cy="4380686"/>
          </a:xfrm>
        </p:spPr>
        <p:txBody>
          <a:bodyPr/>
          <a:lstStyle/>
          <a:p>
            <a:pPr algn="l">
              <a:buNone/>
            </a:pPr>
            <a:endParaRPr lang="en-CA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CA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CA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CA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CA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CA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CA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endParaRPr lang="en-CA" sz="18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None/>
            </a:pP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Dataset Split</a:t>
            </a:r>
          </a:p>
          <a:p>
            <a:pPr algn="l">
              <a:buNone/>
            </a:pPr>
            <a:endParaRPr lang="en-CA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dataset is split into </a:t>
            </a:r>
            <a:r>
              <a:rPr lang="en-CA" sz="18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train, validation, and test sets</a:t>
            </a:r>
            <a:r>
              <a:rPr lang="en-CA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 set contains 2343 images.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validation set contains 586 images.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test set contains 733 images.</a:t>
            </a:r>
            <a:endParaRPr lang="en-CA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9B675D-E286-16A7-9A7F-899CA1176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810" y="1715569"/>
            <a:ext cx="4320914" cy="207282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F98558-0B3A-0D29-2912-5A0BCB37B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7302" y="1726454"/>
            <a:ext cx="3414056" cy="20728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0E33FA-0C3B-76A0-80D9-7E80E5397A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0412" y="4191612"/>
            <a:ext cx="4732430" cy="19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67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A5914-1C21-C2F2-0A40-F08FB9F4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3326DDD-4DD5-7A27-67A3-CA7CCDD8AC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Data Preprocess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6B471AF3-5338-F5D4-49E6-87213E93B09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5139297-97C0-1205-FE9F-A999B4398C6E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914B0D2-D51E-6143-7475-20F71D4A0C9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C96E2A-3A1E-A29C-2432-B566B8FAE90A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5E7D21A-6B4A-8C20-4EEA-C3F0C03E81DD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249057-B7EE-F4F8-D471-09BC9B396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2810" y="1835420"/>
            <a:ext cx="10423390" cy="2400657"/>
          </a:xfrm>
        </p:spPr>
        <p:txBody>
          <a:bodyPr/>
          <a:lstStyle/>
          <a:p>
            <a:pPr algn="l">
              <a:lnSpc>
                <a:spcPct val="150000"/>
              </a:lnSpc>
              <a:buNone/>
            </a:pP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CA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Label images 0,1,2,3,4 with 0_NoDR, 1_Mild, 2_Moderate, 3_Severe, and 4_Proliferative.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Resize images 224x224 pixels.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Determine the number of classes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Class Weights</a:t>
            </a:r>
          </a:p>
          <a:p>
            <a:pPr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227B10-FC59-DEFD-AE33-949380232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810" y="3963826"/>
            <a:ext cx="7681626" cy="20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685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248C9-9AF1-D441-23DA-358484076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F09F65-71D2-689A-393E-DBA51FB3BE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Data Augmentation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4A12A42-3657-3BB4-AC98-4311440E42B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2AFC6D2-A088-D348-ED16-4F194BC94135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74A104D-2561-0292-C336-2B716CD2B78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5F91EC6-5F64-17AF-85B3-AD02779F5845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6BEB19B-4E26-80A9-E6F0-935CE8CEB1C1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9E848A-2B09-CFC2-B3F2-AA564A87D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2810" y="1835420"/>
            <a:ext cx="10423390" cy="2400657"/>
          </a:xfrm>
        </p:spPr>
        <p:txBody>
          <a:bodyPr/>
          <a:lstStyle/>
          <a:p>
            <a:pPr algn="l">
              <a:lnSpc>
                <a:spcPct val="150000"/>
              </a:lnSpc>
              <a:buNone/>
            </a:pP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CA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Random flip (Horizontal) – simulate retinal orientations.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Random rotation (from -9° to 9°) – account for angled views.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Random zoom (10%) – zoom in or zoom out images.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Contrast adjustment (10%) – mimic different lighting conditions.</a:t>
            </a:r>
          </a:p>
          <a:p>
            <a:pPr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28D184-D944-3EF3-5BE3-3F52288EA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810" y="3930233"/>
            <a:ext cx="4290432" cy="2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137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392A9-3CED-01CB-1A69-7F7405AB2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C7D5335-7469-1DCE-7229-1A8BC274C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Model Architecture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2664460-31C2-E3F3-86D4-1DC77D51B31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554509D-B32A-8B50-D475-5E4C4D7A5CC4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6BB8B3E-BB85-1E39-35E2-A32B7894AF2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0217A3D-5835-6020-732B-79EBA022AA39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964A097-28A2-6453-FC1D-D22CA83FF475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D5A330C-F789-7B1E-C2D0-E0BD33CB9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2810" y="1835420"/>
            <a:ext cx="10423390" cy="1569660"/>
          </a:xfrm>
        </p:spPr>
        <p:txBody>
          <a:bodyPr/>
          <a:lstStyle/>
          <a:p>
            <a:pPr algn="l">
              <a:lnSpc>
                <a:spcPct val="150000"/>
              </a:lnSpc>
              <a:buNone/>
            </a:pPr>
            <a:r>
              <a:rPr lang="en-CA" sz="1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Description</a:t>
            </a:r>
            <a:endParaRPr lang="en-CA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base_efficientnetv2b3_model (pre-trained model on ImageNet)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GlobalAveragePooling2D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 used to extract rich hierarchical features from input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Dense Layers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(Hidden Layers) study the features of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(Output Layers) uses the activation function “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softmax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B3D4D4-601B-E5B8-CA5F-F18F0F3477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884" y="3624497"/>
            <a:ext cx="9761155" cy="235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488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1EE7C-2C55-36C7-B76E-D4C1E4092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464F40-D35C-12A8-784D-9A8BE1EFA8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Model Evaluate (1/6)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1612A31-D33E-44F6-9E16-B0288850974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E201341-AFC7-A311-8D13-B86740AE7A4B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18FCA2B-138F-FEC8-65BF-CD508087713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A0EF187-2E0A-7779-E6FE-88FCE0F8D264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14767BBA-97EE-231E-9D6F-F058EB7B4D43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92F9E8-7972-9AF0-2EC7-C72F388E4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0062" y="1737433"/>
            <a:ext cx="7924800" cy="3239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2F55ED-F9AA-4D58-29EC-9FADC760F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2183" y="4941484"/>
            <a:ext cx="7360557" cy="121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45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F3ECA-73D8-B445-CAD4-5707A29C1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8D8E35B-DFB8-11C3-0C1B-6912E222DF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Model Evaluate (2/6)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E9071BB-0B6F-07FB-1743-1361FF5A849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AE1CC3C-9E50-7678-5934-BD66278E1545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BF9B90C-2F07-C2C6-7A7A-FEF0D77D79F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9BCDFF6-4429-5653-9FEC-D91CCA73E877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7FBD4A0-9BD4-D06A-9E66-7C767D96B24B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406E30-ABA1-796D-3F5C-95A51318C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827" y="1741284"/>
            <a:ext cx="8151269" cy="32378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935E3FB-21B4-5085-4C0E-6E666E94F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9321" y="4998643"/>
            <a:ext cx="7111085" cy="112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58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52EBA-1BBA-7BE6-BE04-F36B6F710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DB4A98-C3E9-F973-A860-688B9AF6B5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Model Evaluate (3/6)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71F4D90-71E4-4CB2-F1BE-1F0A6BA681A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9E162E9-B81C-A5A5-B88C-CC73AFA2B913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FA88368-3666-6C7B-80A4-9CFD8B68F61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61E82E6-D99B-054D-67B1-38F13B3A4B3B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DC543D1-8E2E-9AFB-42ED-3866CA382D54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ACA014-D59D-1CEB-DDDF-6F2A207374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012" y="1764050"/>
            <a:ext cx="7810900" cy="31861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6D5E76-C289-1639-4224-DDE2FAC0CC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679" y="4950163"/>
            <a:ext cx="6722601" cy="116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165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7BDAA-CAFE-AE92-55F9-A4DF40E03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27F7D0-5487-1403-1BBE-5668869099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Model Evaluate (4/6)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6D3BD7A4-0A02-4683-FFFB-19E26A9004C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CBAE444-54C5-17AE-43BB-7E3ABF767AED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F57DD41-BF28-A980-2B54-53A3F470CC5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B3595F2-1B24-D1D2-5EAF-813CE6B1EE41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E2315D8D-FE85-3486-364E-C0ABC3CBCE3B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938638-0A24-B45A-C8DE-BD035DB29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711" y="1752606"/>
            <a:ext cx="8199502" cy="341470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CF364A-D6E3-AE72-F47C-CC182C3C3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5776" y="5072249"/>
            <a:ext cx="7633371" cy="106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75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B7230-2E1F-2665-E83E-DF6C3664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CE7609E-95CE-F9ED-138A-E7A8E9E9E7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Model Evaluate (5/6)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B04A76C-706D-BFB1-EB14-4365C0FD5EB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BB578A8-7717-15C6-7370-687FF852F44A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CED280A-5942-26C7-E8DA-11BAF2DD44D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08C3238-7946-CC5A-6D0C-D180C975D1A8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212875A-1EF4-1D97-3934-2E525AF6D70D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53F447-1E06-7B92-2AE1-4D55571F3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771" y="1711177"/>
            <a:ext cx="8115382" cy="3319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8A7CD0-749D-E371-3466-A71B652A85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3216" y="4992906"/>
            <a:ext cx="4363296" cy="117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62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AE0B0-C1DA-9780-881B-3D8F26BA6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57AC882-1D98-B7FC-10CA-5395CACFF2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Model Evaluate (6/6)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F7FE8A-CBEA-DD0A-173B-D31739CC8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4282" y="1763982"/>
            <a:ext cx="5998209" cy="4154984"/>
          </a:xfrm>
        </p:spPr>
        <p:txBody>
          <a:bodyPr/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EfficientNetB0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is chosen with the highest accuracy, 81.31% at the beginning, but Test Accuracy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reduces to 78.04%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after fine-tuning.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ResNet50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DenseNet121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models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misclassification.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The image belongs to class 1 (Mild Diabetes), but models predict class 0 (No Diabetes).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Vision Transformer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ViT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-Ti/16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model is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misclassification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The image belongs to class 1 (Mild Diabetes), but models predict class 2 (Moderate Diabetes).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EfficientNetV2B3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 the second choice for fine-tuning with a 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Test Accuracy of 80.63%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2969720-04CC-DE9B-3CEF-73435407AA1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9DA6701-4B81-03A1-61DA-1601DCEF81A1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5617F60-9BE6-94B2-BD27-738861E6744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F305B64-3528-1997-1C59-91AE4DA6BE1E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073E00A-9A33-CAF4-73DA-ACEBEAC6DB4E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17A54D-A225-3930-9F85-616BA23AF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800" y="1706238"/>
            <a:ext cx="4846740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08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9202D-12B9-7494-B3E0-F90505FA2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847E87-7D2B-5F33-F0B9-85BCBBAE0A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Enhancement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98AD7DD-C316-6FAA-ABF0-5E5E0581059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43F3953-1C2D-1B41-F73E-8FDE39527624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53FC975-86DC-6AB0-1275-875BAAD08E9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317F1A-FDDF-96AB-29B7-B1F4A7023BB9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7F5322E5-831E-B5BF-1D2D-DD9CC4D247DA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6E6E5E-6963-F2DB-C2BF-72401664A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45" y="1750517"/>
            <a:ext cx="5761219" cy="38103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5958F6-EA86-3B7E-AF82-E0AE9DB54E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864" y="3633077"/>
            <a:ext cx="6143491" cy="207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261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8ADFA-6955-F582-56FD-C5A8CEB2F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14B16C0-928B-2CD5-072F-438A085283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Overall Accuracy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8C56A38-7E95-AA6B-F5AB-D6B3E738FFB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B3BD2FC-F722-4317-4940-18129089163F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2D048E2-D52B-C0E3-9919-0CAF2D640D9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EDAD198-44B1-5369-1957-8F12F028FBB8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5A1C8587-BED1-3716-AE51-BD375738FA31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29C221-B0F1-36F4-37F6-2363153635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9162" y="1787034"/>
            <a:ext cx="7086600" cy="431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70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34F21-1BB3-6900-0746-0B6BA177E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4C1A3F-06C8-526C-C19B-991E8F5C56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Demo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03778E-ABD3-88A8-2107-9E7377C21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0162" y="1988820"/>
            <a:ext cx="5998209" cy="276999"/>
          </a:xfrm>
        </p:spPr>
        <p:txBody>
          <a:bodyPr/>
          <a:lstStyle/>
          <a:p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9144F00-93DA-E9B6-C83D-1ABA4835BC4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59AAA72-13FE-0575-77D0-71859F888D28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6EB078B-5D56-127E-AFF7-84E93280D81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DC86DC5-2F13-B701-3D1C-E7B9AE518C53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F7D0617F-BEF7-BE4F-DACF-9077EF5EF49F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34295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52388E-6B07-79A7-32A2-3DB15A5DB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0162" y="1988820"/>
            <a:ext cx="9205163" cy="369331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aims to develop a deep learning model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EfficientNetV2B3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using for Diabetic Retinopathy classification via retinal high-resolution images.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steps, such as data preprocessing, model training, and evaluation, are implemented to create accurate and efficient classification.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expected outcome is to reduce classification time, patients can have good treatment, and improve their life quality.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2499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C6A18F-BA6B-FD21-B19E-48D74722A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AB9F0E-E4DA-6BF8-C526-3053F757F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Scope of future works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DB7E26A-A992-7B96-1FA7-6D84C30DE86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950ED6B-557E-3086-536A-E6CB9BCC0578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9DAB713-0F6C-32CF-846E-72A364145EF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C68D63A-5B0D-AC96-3D23-66912C76BDFA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96BAD33-DDFE-CA8A-C549-F27465CD96B3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7054FB-9073-3370-9E79-6004BF74D846}"/>
              </a:ext>
            </a:extLst>
          </p:cNvPr>
          <p:cNvSpPr txBox="1"/>
          <p:nvPr/>
        </p:nvSpPr>
        <p:spPr>
          <a:xfrm>
            <a:off x="838200" y="1603089"/>
            <a:ext cx="106328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Expand the Dataset for Greater Diversity</a:t>
            </a:r>
            <a:endParaRPr lang="vi-VN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The current dataset, while effective for experimentation, could be expanded to include more images of other diseases, such as Cataract and Glaucoma</a:t>
            </a:r>
            <a:r>
              <a:rPr lang="vi-V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.</a:t>
            </a:r>
            <a:endParaRPr lang="en-CA" b="1" dirty="0"/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Deploy the model on a website</a:t>
            </a:r>
            <a:endParaRPr lang="vi-VN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Building an interactive interface (e.g., using </a:t>
            </a:r>
            <a:r>
              <a:rPr lang="en-US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Streamlit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)</a:t>
            </a:r>
            <a:r>
              <a:rPr lang="vi-V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Increasing productivity in classifying disease and early treatment</a:t>
            </a:r>
            <a:r>
              <a:rPr lang="en-CA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.</a:t>
            </a:r>
            <a:endParaRPr lang="vi-VN" b="1" dirty="0"/>
          </a:p>
          <a:p>
            <a:pPr algn="just">
              <a:lnSpc>
                <a:spcPct val="150000"/>
              </a:lnSpc>
            </a:pP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Integrate into the telemedicine system</a:t>
            </a:r>
            <a:endParaRPr lang="vi-VN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In the countryside, the patient can take photographs of their retina at a facility near their home</a:t>
            </a:r>
            <a:r>
              <a:rPr lang="en-CA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.</a:t>
            </a:r>
            <a:endParaRPr lang="vi-V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AI can help to 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classify it</a:t>
            </a:r>
            <a:r>
              <a:rPr lang="en-CA">
                <a:solidFill>
                  <a:schemeClr val="tx1">
                    <a:lumMod val="65000"/>
                    <a:lumOff val="35000"/>
                  </a:schemeClr>
                </a:solidFill>
                <a:latin typeface="Aptos Display" panose="020B0004020202020204" pitchFamily="34" charset="0"/>
              </a:rPr>
              <a:t>.</a:t>
            </a:r>
            <a:endParaRPr lang="vi-V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980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References (1/2)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56F2D6-3689-73CC-D960-C8ABE3F58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845" y="2024669"/>
            <a:ext cx="9424038" cy="338554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Comparison between Normal Eye and Eye with Retinopathy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From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Diabetic Retinopathy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[Photograph], by Bobbi Nodell, 2020, (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https://newsroom.uw.edu/news-releases/ai-technology-doesnt-reliably-detect-diabetic-eye-disease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206.543.7129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 severity of Diabetic Retinopathy ranges from Normal to Proliferative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From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Stages of DR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[Photograph], by Prasanna Porwal, Samiksha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Pachade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Ravi Kamble, Manesh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Kokare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Girish Deshmukh, Vivek Sahasrabuddhe, Fabrice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Meriaudeau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April 24, 2018, “Indian Diabetic Retinopathy Image Dataset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IDRiD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)”, IEEE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Dataport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https://dx.doi.org/10.21227/H25W98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(</a:t>
            </a:r>
            <a:r>
              <a:rPr lang="en-US" u="sng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https://peerj.com/articles/cs-1947/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CC BY 4.0 DEED.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7537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D672B-03B5-257D-DDBD-25BCB6EA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B2352F-F169-3845-9648-CF18B15615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309371"/>
            <a:ext cx="9975850" cy="994631"/>
          </a:xfrm>
          <a:prstGeom prst="rect">
            <a:avLst/>
          </a:prstGeom>
        </p:spPr>
        <p:txBody>
          <a:bodyPr vert="horz" wrap="square" lIns="0" tIns="314452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latin typeface="Arial" panose="020B0604020202020204" pitchFamily="34" charset="0"/>
                <a:cs typeface="Arial" panose="020B0604020202020204" pitchFamily="34" charset="0"/>
              </a:rPr>
              <a:t>References (2/2)</a:t>
            </a:r>
            <a:endParaRPr spc="-1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AE5EC4-F0E4-0139-E564-78B576656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2845" y="2111318"/>
            <a:ext cx="9424038" cy="61555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Sovit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Ranjan Rath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(2019).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Diabetic Retinopathy 224x224 (2019 Data)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dirty="0">
                <a:hlinkClick r:id="rId3"/>
              </a:rPr>
              <a:t>Diabetic Retinopathy 224x224 (2019 Data)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F85301B-FB92-7955-D303-7D502820295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66CDD2C-0F15-66C6-5BD7-029898E731F6}"/>
              </a:ext>
            </a:extLst>
          </p:cNvPr>
          <p:cNvGrpSpPr/>
          <p:nvPr/>
        </p:nvGrpSpPr>
        <p:grpSpPr>
          <a:xfrm>
            <a:off x="838200" y="5796897"/>
            <a:ext cx="11127504" cy="742014"/>
            <a:chOff x="838200" y="5796897"/>
            <a:chExt cx="11127504" cy="742014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49F4E21-9BA2-66D7-DF7C-DD9188791AB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25325" y="5796897"/>
              <a:ext cx="1440379" cy="742014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33B42B3-1C47-3B73-811D-80D46E1E40BB}"/>
                </a:ext>
              </a:extLst>
            </p:cNvPr>
            <p:cNvSpPr/>
            <p:nvPr/>
          </p:nvSpPr>
          <p:spPr>
            <a:xfrm>
              <a:off x="838200" y="6167904"/>
              <a:ext cx="9687560" cy="0"/>
            </a:xfrm>
            <a:custGeom>
              <a:avLst/>
              <a:gdLst/>
              <a:ahLst/>
              <a:cxnLst/>
              <a:rect l="l" t="t" r="r" b="b"/>
              <a:pathLst>
                <a:path w="9687560">
                  <a:moveTo>
                    <a:pt x="0" y="0"/>
                  </a:moveTo>
                  <a:lnTo>
                    <a:pt x="9687126" y="1"/>
                  </a:lnTo>
                </a:path>
              </a:pathLst>
            </a:custGeom>
            <a:ln w="3810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595D57-8AEB-72A3-1695-FF8D388451EF}"/>
              </a:ext>
            </a:extLst>
          </p:cNvPr>
          <p:cNvSpPr/>
          <p:nvPr/>
        </p:nvSpPr>
        <p:spPr>
          <a:xfrm>
            <a:off x="830535" y="1690687"/>
            <a:ext cx="10523855" cy="0"/>
          </a:xfrm>
          <a:custGeom>
            <a:avLst/>
            <a:gdLst/>
            <a:ahLst/>
            <a:cxnLst/>
            <a:rect l="l" t="t" r="r" b="b"/>
            <a:pathLst>
              <a:path w="10523855">
                <a:moveTo>
                  <a:pt x="0" y="0"/>
                </a:moveTo>
                <a:lnTo>
                  <a:pt x="10523264" y="1"/>
                </a:lnTo>
              </a:path>
            </a:pathLst>
          </a:custGeom>
          <a:ln w="38100">
            <a:solidFill>
              <a:srgbClr val="7030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84394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F8F180-D78A-6267-F332-F25C263436F9}"/>
              </a:ext>
            </a:extLst>
          </p:cNvPr>
          <p:cNvSpPr/>
          <p:nvPr/>
        </p:nvSpPr>
        <p:spPr>
          <a:xfrm>
            <a:off x="1580180" y="2321004"/>
            <a:ext cx="9031640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8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1172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1494</TotalTime>
  <Words>1003</Words>
  <Application>Microsoft Office PowerPoint</Application>
  <PresentationFormat>Widescreen</PresentationFormat>
  <Paragraphs>161</Paragraphs>
  <Slides>26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 Display</vt:lpstr>
      <vt:lpstr>Arial</vt:lpstr>
      <vt:lpstr>Calibri</vt:lpstr>
      <vt:lpstr>Calibri Light</vt:lpstr>
      <vt:lpstr>Wingdings</vt:lpstr>
      <vt:lpstr>Office Theme</vt:lpstr>
      <vt:lpstr>AI-powered classification of the diabetic retinopathy severity  </vt:lpstr>
      <vt:lpstr>Introduction (1/2)</vt:lpstr>
      <vt:lpstr>Introduction (2/2)</vt:lpstr>
      <vt:lpstr>Key terms to remember</vt:lpstr>
      <vt:lpstr>Methodology Overview</vt:lpstr>
      <vt:lpstr>Project Diagram</vt:lpstr>
      <vt:lpstr>Project Workflow</vt:lpstr>
      <vt:lpstr>Dataset Overview</vt:lpstr>
      <vt:lpstr>Data Loading</vt:lpstr>
      <vt:lpstr>Data Preprocess</vt:lpstr>
      <vt:lpstr>Data Augmentation</vt:lpstr>
      <vt:lpstr>Model Architecture</vt:lpstr>
      <vt:lpstr>Model Evaluate (1/6)</vt:lpstr>
      <vt:lpstr>Model Evaluate (2/6)</vt:lpstr>
      <vt:lpstr>Model Evaluate (3/6)</vt:lpstr>
      <vt:lpstr>Model Evaluate (4/6)</vt:lpstr>
      <vt:lpstr>Model Evaluate (5/6)</vt:lpstr>
      <vt:lpstr>Model Evaluate (6/6)</vt:lpstr>
      <vt:lpstr>Enhancement</vt:lpstr>
      <vt:lpstr>Overall Accuracy</vt:lpstr>
      <vt:lpstr>Demo</vt:lpstr>
      <vt:lpstr>Conclusion</vt:lpstr>
      <vt:lpstr>Scope of future works</vt:lpstr>
      <vt:lpstr>References (1/2)</vt:lpstr>
      <vt:lpstr>References (2/2)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 613 – Capstone Project</dc:title>
  <dc:creator>Guo, Hongyu</dc:creator>
  <cp:lastModifiedBy>Thanh Thao Nguyen</cp:lastModifiedBy>
  <cp:revision>91</cp:revision>
  <dcterms:created xsi:type="dcterms:W3CDTF">2023-09-10T22:07:13Z</dcterms:created>
  <dcterms:modified xsi:type="dcterms:W3CDTF">2025-11-28T09:23:58Z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2023-01-12T00:00:00Z</vt:filetime>
  </property>
  <property fmtid="{D5CDD505-2E9C-101B-9397-08002B2CF9AE}" pid="3" name="LastSaved">
    <vt:filetime>2023-09-10T00:00:00Z</vt:filetime>
  </property>
  <property fmtid="{D5CDD505-2E9C-101B-9397-08002B2CF9AE}" pid="4" name="Producer">
    <vt:lpwstr>macOS Version 12.6 (Build 21G115) Quartz PDFContext</vt:lpwstr>
  </property>
</Properties>
</file>