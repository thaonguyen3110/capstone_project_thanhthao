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21945600"/>
  <p:notesSz cx="9239250" cy="11982450"/>
  <p:embeddedFontLst>
    <p:embeddedFont>
      <p:font typeface="Quattrocento" panose="02020502030000000404" pitchFamily="18" charset="0"/>
      <p:regular r:id="rId5"/>
      <p:bold r:id="rId6"/>
    </p:embeddedFont>
    <p:embeddedFont>
      <p:font typeface="Quattrocento Sans" panose="020B05020500000200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92" userDrawn="1">
          <p15:clr>
            <a:srgbClr val="A4A3A4"/>
          </p15:clr>
        </p15:guide>
        <p15:guide id="2" pos="13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654" autoAdjust="0"/>
  </p:normalViewPr>
  <p:slideViewPr>
    <p:cSldViewPr>
      <p:cViewPr>
        <p:scale>
          <a:sx n="20" d="100"/>
          <a:sy n="20" d="100"/>
        </p:scale>
        <p:origin x="1435" y="456"/>
      </p:cViewPr>
      <p:guideLst>
        <p:guide orient="horz" pos="7392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84" y="72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gs" Target="tags/tag1.xml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263" y="889000"/>
            <a:ext cx="908843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263" y="889000"/>
            <a:ext cx="9088437" cy="4545013"/>
          </a:xfrm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4" y="6817784"/>
            <a:ext cx="37306957" cy="4703233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2435417"/>
            <a:ext cx="30722711" cy="5609167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878417"/>
            <a:ext cx="39502643" cy="36576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5120217"/>
            <a:ext cx="39502643" cy="14483293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14102293"/>
            <a:ext cx="37306957" cy="4358217"/>
          </a:xfrm>
          <a:prstGeom prst="rect">
            <a:avLst/>
          </a:prstGeo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9301692"/>
            <a:ext cx="37306957" cy="4800600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878417"/>
            <a:ext cx="39502643" cy="36576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5120217"/>
            <a:ext cx="19683588" cy="14483293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5" y="5120217"/>
            <a:ext cx="19683589" cy="14483293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878417"/>
            <a:ext cx="39502643" cy="36576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4912784"/>
            <a:ext cx="19392900" cy="2046817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6959601"/>
            <a:ext cx="19392900" cy="1264390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4912784"/>
            <a:ext cx="19401368" cy="2046817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6959601"/>
            <a:ext cx="19401368" cy="1264390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878417"/>
            <a:ext cx="39502643" cy="36576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874184"/>
            <a:ext cx="14439900" cy="371792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874184"/>
            <a:ext cx="24536400" cy="18729325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4592109"/>
            <a:ext cx="14439900" cy="15011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6" y="15361710"/>
            <a:ext cx="26334157" cy="1813983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6" y="1961093"/>
            <a:ext cx="26334157" cy="13166725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6" y="17175693"/>
            <a:ext cx="26334157" cy="2574925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878417"/>
            <a:ext cx="39502643" cy="36576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5120217"/>
            <a:ext cx="39502643" cy="14483293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8" y="878417"/>
            <a:ext cx="9874956" cy="18725093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878417"/>
            <a:ext cx="29492222" cy="18725093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690800" y="109728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46900" y="22453600"/>
            <a:ext cx="29997400" cy="14478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46900" y="230251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ponderingpeacock  Size: 48x24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+mj-lt"/>
          <a:ea typeface="+mj-ea"/>
          <a:cs typeface="+mj-cs"/>
        </a:defRPr>
      </a:lvl1pPr>
      <a:lvl2pPr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2pPr>
      <a:lvl3pPr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3pPr>
      <a:lvl4pPr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4pPr>
      <a:lvl5pPr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5pPr>
      <a:lvl6pPr marL="304815"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6pPr>
      <a:lvl7pPr marL="609630"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7pPr>
      <a:lvl8pPr marL="914446"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8pPr>
      <a:lvl9pPr marL="1219261" algn="ctr" defTabSz="2050094" rtl="0" eaLnBrk="0" fontAlgn="base" hangingPunct="0">
        <a:spcBef>
          <a:spcPct val="0"/>
        </a:spcBef>
        <a:spcAft>
          <a:spcPct val="0"/>
        </a:spcAft>
        <a:defRPr sz="9867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767330" indent="-767330" algn="l" defTabSz="2050094" rtl="0" eaLnBrk="0" fontAlgn="base" hangingPunct="0">
        <a:spcBef>
          <a:spcPct val="20000"/>
        </a:spcBef>
        <a:spcAft>
          <a:spcPct val="0"/>
        </a:spcAft>
        <a:buChar char="•"/>
        <a:defRPr sz="7134">
          <a:solidFill>
            <a:schemeClr val="tx1"/>
          </a:solidFill>
          <a:latin typeface="+mn-lt"/>
          <a:ea typeface="+mn-ea"/>
          <a:cs typeface="+mn-cs"/>
        </a:defRPr>
      </a:lvl1pPr>
      <a:lvl2pPr marL="1664842" indent="-640324" algn="l" defTabSz="2050094" rtl="0" eaLnBrk="0" fontAlgn="base" hangingPunct="0">
        <a:spcBef>
          <a:spcPct val="20000"/>
        </a:spcBef>
        <a:spcAft>
          <a:spcPct val="0"/>
        </a:spcAft>
        <a:buChar char="–"/>
        <a:defRPr sz="6334">
          <a:solidFill>
            <a:schemeClr val="tx1"/>
          </a:solidFill>
          <a:latin typeface="+mn-lt"/>
        </a:defRPr>
      </a:lvl2pPr>
      <a:lvl3pPr marL="2562353" indent="-512259" algn="l" defTabSz="2050094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</a:defRPr>
      </a:lvl3pPr>
      <a:lvl4pPr marL="3590046" indent="-515434" algn="l" defTabSz="2050094" rtl="0" eaLnBrk="0" fontAlgn="base" hangingPunct="0">
        <a:spcBef>
          <a:spcPct val="20000"/>
        </a:spcBef>
        <a:spcAft>
          <a:spcPct val="0"/>
        </a:spcAft>
        <a:buChar char="–"/>
        <a:defRPr sz="4334">
          <a:solidFill>
            <a:schemeClr val="tx1"/>
          </a:solidFill>
          <a:latin typeface="+mn-lt"/>
        </a:defRPr>
      </a:lvl4pPr>
      <a:lvl5pPr marL="4614564" indent="-512259" algn="l" defTabSz="2050094" rtl="0" eaLnBrk="0" fontAlgn="base" hangingPunct="0">
        <a:spcBef>
          <a:spcPct val="20000"/>
        </a:spcBef>
        <a:spcAft>
          <a:spcPct val="0"/>
        </a:spcAft>
        <a:buChar char="»"/>
        <a:defRPr sz="4334">
          <a:solidFill>
            <a:schemeClr val="tx1"/>
          </a:solidFill>
          <a:latin typeface="+mn-lt"/>
        </a:defRPr>
      </a:lvl5pPr>
      <a:lvl6pPr marL="4919379" indent="-512259" algn="l" defTabSz="2050094" rtl="0" eaLnBrk="0" fontAlgn="base" hangingPunct="0">
        <a:spcBef>
          <a:spcPct val="20000"/>
        </a:spcBef>
        <a:spcAft>
          <a:spcPct val="0"/>
        </a:spcAft>
        <a:buChar char="»"/>
        <a:defRPr sz="4334">
          <a:solidFill>
            <a:schemeClr val="tx1"/>
          </a:solidFill>
          <a:latin typeface="+mn-lt"/>
        </a:defRPr>
      </a:lvl6pPr>
      <a:lvl7pPr marL="5224195" indent="-512259" algn="l" defTabSz="2050094" rtl="0" eaLnBrk="0" fontAlgn="base" hangingPunct="0">
        <a:spcBef>
          <a:spcPct val="20000"/>
        </a:spcBef>
        <a:spcAft>
          <a:spcPct val="0"/>
        </a:spcAft>
        <a:buChar char="»"/>
        <a:defRPr sz="4334">
          <a:solidFill>
            <a:schemeClr val="tx1"/>
          </a:solidFill>
          <a:latin typeface="+mn-lt"/>
        </a:defRPr>
      </a:lvl7pPr>
      <a:lvl8pPr marL="5529010" indent="-512259" algn="l" defTabSz="2050094" rtl="0" eaLnBrk="0" fontAlgn="base" hangingPunct="0">
        <a:spcBef>
          <a:spcPct val="20000"/>
        </a:spcBef>
        <a:spcAft>
          <a:spcPct val="0"/>
        </a:spcAft>
        <a:buChar char="»"/>
        <a:defRPr sz="4334">
          <a:solidFill>
            <a:schemeClr val="tx1"/>
          </a:solidFill>
          <a:latin typeface="+mn-lt"/>
        </a:defRPr>
      </a:lvl8pPr>
      <a:lvl9pPr marL="5833825" indent="-512259" algn="l" defTabSz="2050094" rtl="0" eaLnBrk="0" fontAlgn="base" hangingPunct="0">
        <a:spcBef>
          <a:spcPct val="20000"/>
        </a:spcBef>
        <a:spcAft>
          <a:spcPct val="0"/>
        </a:spcAft>
        <a:buChar char="»"/>
        <a:defRPr sz="4334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41"/>
          <p:cNvSpPr txBox="1">
            <a:spLocks noChangeArrowheads="1"/>
          </p:cNvSpPr>
          <p:nvPr/>
        </p:nvSpPr>
        <p:spPr bwMode="auto">
          <a:xfrm>
            <a:off x="226142" y="167660"/>
            <a:ext cx="42976800" cy="4053748"/>
          </a:xfrm>
          <a:prstGeom prst="snip2DiagRect">
            <a:avLst/>
          </a:prstGeom>
          <a:solidFill>
            <a:srgbClr val="E64B3C"/>
          </a:solidFill>
          <a:ln w="25400">
            <a:noFill/>
            <a:miter lim="800000"/>
          </a:ln>
        </p:spPr>
        <p:txBody>
          <a:bodyPr lIns="40780" tIns="20389" rIns="40780" bIns="20389" anchor="ctr"/>
          <a:lstStyle>
            <a:defPPr>
              <a:defRPr kern="1200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2800" b="1" i="1" u="sng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6090065" y="850506"/>
            <a:ext cx="32461200" cy="19956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507516">
              <a:spcBef>
                <a:spcPct val="20000"/>
              </a:spcBef>
              <a:defRPr/>
            </a:pPr>
            <a:r>
              <a:rPr lang="en-US" sz="88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AI-powered classification of the diabetic retinopathy severity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3A3E55C8-5130-4258-80B1-064CE3FDB621}"/>
              </a:ext>
            </a:extLst>
          </p:cNvPr>
          <p:cNvSpPr txBox="1"/>
          <p:nvPr/>
        </p:nvSpPr>
        <p:spPr>
          <a:xfrm>
            <a:off x="9753600" y="2547043"/>
            <a:ext cx="24384000" cy="148963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4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Author: Thanh Thao Nguyen</a:t>
            </a:r>
          </a:p>
          <a:p>
            <a:pPr algn="ctr">
              <a:defRPr/>
            </a:pPr>
            <a:r>
              <a:rPr lang="en-US" sz="44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Instructor: Himanshu Patel – Saskatchewan Polytechnic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68922" y="5527166"/>
            <a:ext cx="10056404" cy="1516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>
              <a:latin typeface="+mj-lt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D5A32123-7974-4A0F-B8DF-6C82FB22F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258" y="5613767"/>
            <a:ext cx="9596272" cy="106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dirty="0">
                <a:effectLst/>
              </a:rPr>
              <a:t>This project investigates the use of EfficientNetV2B3, a state-of-the-art convolutional neural network architecture, for enhancing diabetic retinopathy severity classification accuracy in supporting the detection and treatment of diabetic retinopathy</a:t>
            </a:r>
            <a:endParaRPr lang="en-US" sz="1600" dirty="0">
              <a:effectLst/>
              <a:latin typeface="Quattrocento Sans" panose="020B0502050000020003" pitchFamily="34" charset="0"/>
              <a:cs typeface="Arial" pitchFamily="34" charset="0"/>
            </a:endParaRP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21" y="4875373"/>
            <a:ext cx="10056404" cy="569747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868B6862-5CC5-4906-AC03-EA9661AD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6372" y="5004749"/>
            <a:ext cx="10056404" cy="569747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Project Diagram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442889" y="5503144"/>
            <a:ext cx="10056404" cy="15857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>
              <a:latin typeface="+mj-lt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16D6CE1D-7E3F-42CA-A7BD-5FA191CFE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0732" y="5924872"/>
            <a:ext cx="9596272" cy="315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1600">
                <a:effectLst/>
                <a:latin typeface="Quattrocento Sans" panose="020B0502050000020003" pitchFamily="34" charset="0"/>
                <a:cs typeface="Arial" pitchFamily="34" charset="0"/>
              </a:rPr>
              <a:t>Add your information, graphs and images to this section.</a:t>
            </a:r>
          </a:p>
        </p:txBody>
      </p:sp>
      <p:sp>
        <p:nvSpPr>
          <p:cNvPr id="84" name="Rectangle 10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2889" y="4823172"/>
            <a:ext cx="10056404" cy="569747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Model Architecture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BFD724-D51D-4DD6-A93A-40ABEA405C90}"/>
              </a:ext>
            </a:extLst>
          </p:cNvPr>
          <p:cNvSpPr/>
          <p:nvPr/>
        </p:nvSpPr>
        <p:spPr>
          <a:xfrm>
            <a:off x="33146538" y="5527164"/>
            <a:ext cx="10056404" cy="117934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>
              <a:latin typeface="+mj-lt"/>
            </a:endParaRPr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0BE282AE-183A-4D49-B152-23A5A101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6538" y="5181600"/>
            <a:ext cx="10056404" cy="569747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Scope of future work</a:t>
            </a: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9742DD1E-D7E3-4AB1-8A17-D5B59B6A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989" y="12636170"/>
            <a:ext cx="9596272" cy="36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dirty="0">
                <a:effectLst/>
              </a:rPr>
              <a:t>.</a:t>
            </a: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61" y="11119350"/>
            <a:ext cx="14735175" cy="56119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Project Workflow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5D5CB20-8752-4D75-A601-0EEB3443D27F}"/>
              </a:ext>
            </a:extLst>
          </p:cNvPr>
          <p:cNvSpPr/>
          <p:nvPr/>
        </p:nvSpPr>
        <p:spPr>
          <a:xfrm>
            <a:off x="33148997" y="18154348"/>
            <a:ext cx="10056404" cy="3181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 dirty="0">
              <a:latin typeface="+mj-lt"/>
            </a:endParaRPr>
          </a:p>
        </p:txBody>
      </p:sp>
      <p:sp>
        <p:nvSpPr>
          <p:cNvPr id="93" name="Rectangle 10">
            <a:extLst>
              <a:ext uri="{FF2B5EF4-FFF2-40B4-BE49-F238E27FC236}">
                <a16:creationId xmlns:a16="http://schemas.microsoft.com/office/drawing/2014/main" id="{5EDC1F28-88BB-4DAD-9112-B4904B4A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8997" y="17866100"/>
            <a:ext cx="10056404" cy="569747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96B448-6408-6EBC-0BD1-15862B730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293" y="10963258"/>
            <a:ext cx="4467391" cy="30502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BF0879-ED5B-4299-CA25-89BC4266C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8317" y="9387576"/>
            <a:ext cx="5564505" cy="15163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D9D1B2-48AA-28B8-7EF0-75A694797A6B}"/>
              </a:ext>
            </a:extLst>
          </p:cNvPr>
          <p:cNvSpPr/>
          <p:nvPr/>
        </p:nvSpPr>
        <p:spPr>
          <a:xfrm>
            <a:off x="641062" y="7881986"/>
            <a:ext cx="10056404" cy="3052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 dirty="0">
              <a:latin typeface="+mj-lt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F3045FE-D3ED-9F90-437A-2F86597A7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61" y="7256611"/>
            <a:ext cx="10081804" cy="54332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defTabSz="3135215">
              <a:defRPr/>
            </a:pPr>
            <a:r>
              <a:rPr lang="en-US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Project Objective</a:t>
            </a:r>
          </a:p>
        </p:txBody>
      </p:sp>
      <p:sp>
        <p:nvSpPr>
          <p:cNvPr id="9" name="TextBox 19">
            <a:extLst>
              <a:ext uri="{FF2B5EF4-FFF2-40B4-BE49-F238E27FC236}">
                <a16:creationId xmlns:a16="http://schemas.microsoft.com/office/drawing/2014/main" id="{5D255293-2CA3-291D-C1B8-2B1370525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127" y="8088187"/>
            <a:ext cx="9596272" cy="2215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lang="en-US" dirty="0">
                <a:effectLst/>
              </a:rPr>
              <a:t>• Implement EfficientNetV2B3 to classify diabetic retinopathy from retinal imagery with high accuracy.</a:t>
            </a:r>
          </a:p>
          <a:p>
            <a:r>
              <a:rPr lang="en-US" dirty="0">
                <a:effectLst/>
              </a:rPr>
              <a:t>• Optimize input data through preprocessing and augmentation.</a:t>
            </a:r>
          </a:p>
          <a:p>
            <a:r>
              <a:rPr lang="en-US" dirty="0">
                <a:effectLst/>
              </a:rPr>
              <a:t>• Compare EfficientNetV2B3 with EfficientNetB0, ResNet50, DenseNet121, and Vision Transformer </a:t>
            </a:r>
            <a:r>
              <a:rPr lang="en-US" dirty="0" err="1">
                <a:effectLst/>
              </a:rPr>
              <a:t>ViT</a:t>
            </a:r>
            <a:r>
              <a:rPr lang="en-US" dirty="0">
                <a:effectLst/>
              </a:rPr>
              <a:t>-Ti/16 under controlled conditions.</a:t>
            </a:r>
          </a:p>
          <a:p>
            <a:r>
              <a:rPr lang="en-US" dirty="0">
                <a:effectLst/>
              </a:rPr>
              <a:t>• Evaluate performance using the Accuracy of the Confusion Matrix.</a:t>
            </a:r>
          </a:p>
          <a:p>
            <a:r>
              <a:rPr lang="en-US" dirty="0">
                <a:effectLst/>
              </a:rPr>
              <a:t>• Generate reliable, generalizable classification results for practical use</a:t>
            </a:r>
            <a:endParaRPr lang="en-US" sz="1600" dirty="0">
              <a:effectLst/>
              <a:latin typeface="Quattrocento Sans" panose="020B0502050000020003" pitchFamily="34" charset="0"/>
              <a:cs typeface="Arial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244DEE-26E2-468E-9943-72C2DDC60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21" y="11777195"/>
            <a:ext cx="14735175" cy="958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85C93A-BE83-8723-7E51-2CD62C8D71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792" y="5741026"/>
            <a:ext cx="10029318" cy="3554187"/>
          </a:xfrm>
          <a:prstGeom prst="rect">
            <a:avLst/>
          </a:prstGeom>
        </p:spPr>
      </p:pic>
      <p:sp>
        <p:nvSpPr>
          <p:cNvPr id="13" name="TextBox 19">
            <a:extLst>
              <a:ext uri="{FF2B5EF4-FFF2-40B4-BE49-F238E27FC236}">
                <a16:creationId xmlns:a16="http://schemas.microsoft.com/office/drawing/2014/main" id="{8B14004A-BA8A-0DC4-AC6A-04AAD3B42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0603" y="5809843"/>
            <a:ext cx="9596272" cy="34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 the Dataset for Greater Diversity</a:t>
            </a:r>
            <a:endParaRPr lang="vi-VN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current dataset, while effective for experimentation, could be expanded to include more images of other diseases, such as Cataract and Glaucoma</a:t>
            </a:r>
            <a:r>
              <a:rPr lang="vi-V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 the model on a website</a:t>
            </a:r>
            <a:endParaRPr lang="vi-VN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an interactive interface (e.g., using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increasing productivity in classifying disease and early treatment</a:t>
            </a:r>
            <a:r>
              <a:rPr lang="en-C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into the telemedicine system</a:t>
            </a:r>
            <a:endParaRPr lang="vi-VN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countryside, the patient can take photographs of their retina at a facility near their home</a:t>
            </a:r>
            <a:r>
              <a:rPr lang="en-C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can help to classify it</a:t>
            </a:r>
            <a:r>
              <a:rPr lang="en-C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143870-7054-00A9-3133-33C1BCB269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05144" y="17290682"/>
            <a:ext cx="6661377" cy="40537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26AC6C-B50A-A045-E002-7F29A498263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289" y="5917945"/>
            <a:ext cx="9761155" cy="23579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81A2AB-2E03-83FF-94FE-D01F336C25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50732" y="8485010"/>
            <a:ext cx="8367485" cy="38179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2E7782B-144A-E5E5-F96A-641C9C72B2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37097" y="12874925"/>
            <a:ext cx="8352244" cy="37112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E6F778F-6CB6-E5CF-B9C2-BF35565952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91373" y="17265282"/>
            <a:ext cx="8397968" cy="37874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1F9C45-55DF-E640-F943-9711B0AE45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0603" y="9436390"/>
            <a:ext cx="8382726" cy="378746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FF21F6D-352A-906B-5B9E-AE2AAF92D1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37170" y="13431869"/>
            <a:ext cx="8359864" cy="379508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972BA9-3D4D-65FB-6652-9B6511F282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629872" y="14106326"/>
            <a:ext cx="6636649" cy="3041173"/>
          </a:xfrm>
          <a:prstGeom prst="rect">
            <a:avLst/>
          </a:prstGeom>
        </p:spPr>
      </p:pic>
      <p:sp>
        <p:nvSpPr>
          <p:cNvPr id="35" name="TextBox 19">
            <a:extLst>
              <a:ext uri="{FF2B5EF4-FFF2-40B4-BE49-F238E27FC236}">
                <a16:creationId xmlns:a16="http://schemas.microsoft.com/office/drawing/2014/main" id="{AF0D6191-5AF9-30DE-A609-976E6F1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7786" y="18714948"/>
            <a:ext cx="9596272" cy="2031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project aims to develop a deep learning model EfficientNetV2B3 using for Diabetic Retinopathy classification via retinal high-resolution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steps, such as data preprocessing, model training, and evaluation, are implemented to create accurate and efficient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expected outcome is to reduce classification time, patients can have good treatment, and improve their life quality.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onderingpeacock|08-2022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295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Quattrocento Sans</vt:lpstr>
      <vt:lpstr>Quattrocento</vt:lpstr>
      <vt:lpstr>Times New Roman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Thanh Thao Nguyen</cp:lastModifiedBy>
  <cp:revision>112</cp:revision>
  <cp:lastPrinted>2000-08-03T00:31:24Z</cp:lastPrinted>
  <dcterms:modified xsi:type="dcterms:W3CDTF">2025-11-28T10:02:24Z</dcterms:modified>
  <cp:category>research posters template</cp:category>
</cp:coreProperties>
</file>